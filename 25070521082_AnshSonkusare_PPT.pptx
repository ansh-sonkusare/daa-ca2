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f48eaf0-5acb-9a21-deeb-c0e67fa7f2e8}">
          <p14:sldIdLst>
            <p14:sldId id="256"/>
          </p14:sldIdLst>
        </p14:section>
        <p14:section name="Concept" id="{0a30c4f7-14fb-dada-ea84-1208d554c2df}">
          <p14:sldIdLst>
            <p14:sldId id="257"/>
            <p14:sldId id="258"/>
          </p14:sldIdLst>
        </p14:section>
        <p14:section name="Example" id="{be9f2b22-4843-2351-9526-a5abdfd45349}">
          <p14:sldIdLst>
            <p14:sldId id="259"/>
          </p14:sldIdLst>
        </p14:section>
        <p14:section name="Analysis" id="{14047601-71d9-383f-d97b-c739d8a6fec1}">
          <p14:sldIdLst>
            <p14:sldId id="260"/>
            <p14:sldId id="261"/>
          </p14:sldIdLst>
        </p14:section>
        <p14:section name="Close" id="{19484118-3161-1d03-d155-1cc81b83767a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Sort: a divide-and-conquer sorting algorithm. Generated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Generated using Claude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C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Generated using Claude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DIVIDE AND CONQUER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Sort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Design and Analysis of Algorithms</a:t>
            </a:r>
            <a:endParaRPr lang="en-US" sz="2200" dirty="0"/>
          </a:p>
        </p:txBody>
      </p:sp>
      <p:pic>
        <p:nvPicPr>
          <p:cNvPr id="5" name="pivotImg" descr="deck_piv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80360"/>
            <a:ext cx="4206240" cy="1209294"/>
          </a:xfrm>
          <a:prstGeom prst="rect">
            <a:avLst/>
          </a:prstGeom>
        </p:spPr>
      </p:pic>
      <p:sp>
        <p:nvSpPr>
          <p:cNvPr id="6" name="genPill"/>
          <p:cNvSpPr/>
          <p:nvPr/>
        </p:nvSpPr>
        <p:spPr>
          <a:xfrm>
            <a:off x="5623560" y="324612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0C241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2356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Generated using </a:t>
            </a:r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Claude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pivot, partition around it, repeat</a:t>
            </a:r>
            <a:endParaRPr lang="en-US" sz="3200" dirty="0"/>
          </a:p>
        </p:txBody>
      </p:sp>
      <p:sp>
        <p:nvSpPr>
          <p:cNvPr id="4" name="step0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893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Divide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600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Choose a pivot and partition: smaller elements go left, larger go right. The pivot lands in its final position.</a:t>
            </a:r>
            <a:endParaRPr lang="en-US" sz="1300" dirty="0"/>
          </a:p>
        </p:txBody>
      </p:sp>
      <p:sp>
        <p:nvSpPr>
          <p:cNvPr id="8" name="step1"/>
          <p:cNvSpPr/>
          <p:nvPr/>
        </p:nvSpPr>
        <p:spPr>
          <a:xfrm>
            <a:off x="457200" y="2377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40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Conquer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Recursively Quick Sort the left part and the right part.</a:t>
            </a:r>
            <a:endParaRPr lang="en-US" sz="1300" dirty="0"/>
          </a:p>
        </p:txBody>
      </p:sp>
      <p:sp>
        <p:nvSpPr>
          <p:cNvPr id="12" name="step2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Combine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Nothing to do. The parts are already in place, so the whole array is sorted.</a:t>
            </a:r>
            <a:endParaRPr lang="en-US" sz="1300" dirty="0"/>
          </a:p>
        </p:txBody>
      </p:sp>
      <p:sp>
        <p:nvSpPr>
          <p:cNvPr id="16" name="exampleCard"/>
          <p:cNvSpPr/>
          <p:nvPr/>
        </p:nvSpPr>
        <p:spPr>
          <a:xfrm>
            <a:off x="4663440" y="137160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Partition of 7 2 9 4 3 8 6 around pivot 6</a:t>
            </a:r>
            <a:endParaRPr lang="en-US" sz="1200" dirty="0"/>
          </a:p>
        </p:txBody>
      </p:sp>
      <p:pic>
        <p:nvPicPr>
          <p:cNvPr id="18" name="partImg" descr="deck_p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874520"/>
            <a:ext cx="3749040" cy="93726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846320" y="2971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Work happens in the divide step. Merge Sort is the opposite: trivial split, work in the merge.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ALGORITHM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Pseudocode with Lomuto partition</a:t>
            </a:r>
            <a:endParaRPr lang="en-US" sz="3200" dirty="0"/>
          </a:p>
        </p:txBody>
      </p:sp>
      <p:sp>
        <p:nvSpPr>
          <p:cNvPr id="4" name="codeCard"/>
          <p:cNvSpPr/>
          <p:nvPr/>
        </p:nvSpPr>
        <p:spPr>
          <a:xfrm>
            <a:off x="457200" y="1325880"/>
            <a:ext cx="457200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640080" y="141732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QUICKSORT(A, lo, hi)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lo &lt; hi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PARTITION(A, lo, hi)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QUICKSORT(A, lo, p - 1)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QUICKSORT(A, p + 1, hi)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PARTITION(A, lo, hi)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pivot = A[hi]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= lo - 1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j = lo to hi - 1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A[j] &lt;= pivot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 = i + 1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swap A[i], A[j]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swap A[i + 1], A[hi]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 + 1</a:t>
            </a:r>
            <a:endParaRPr lang="en-US" sz="1150" dirty="0"/>
          </a:p>
        </p:txBody>
      </p:sp>
      <p:sp>
        <p:nvSpPr>
          <p:cNvPr id="6" name="alg0"/>
          <p:cNvSpPr/>
          <p:nvPr/>
        </p:nvSpPr>
        <p:spPr>
          <a:xfrm>
            <a:off x="534924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335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Pivot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6184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Take the last element A[hi].</a:t>
            </a:r>
            <a:endParaRPr lang="en-US" sz="1300" dirty="0"/>
          </a:p>
        </p:txBody>
      </p:sp>
      <p:sp>
        <p:nvSpPr>
          <p:cNvPr id="10" name="alg1"/>
          <p:cNvSpPr/>
          <p:nvPr/>
        </p:nvSpPr>
        <p:spPr>
          <a:xfrm>
            <a:off x="5349240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1579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4414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 marks the end of the "≤ pivot" zone; j walks lo … hi−1.</a:t>
            </a:r>
            <a:endParaRPr lang="en-US" sz="1300" dirty="0"/>
          </a:p>
        </p:txBody>
      </p:sp>
      <p:sp>
        <p:nvSpPr>
          <p:cNvPr id="14" name="alg2"/>
          <p:cNvSpPr/>
          <p:nvPr/>
        </p:nvSpPr>
        <p:spPr>
          <a:xfrm>
            <a:off x="534924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29809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Place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2644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Swap the pivot to i+1: its final index.</a:t>
            </a:r>
            <a:endParaRPr lang="en-US" sz="1300" dirty="0"/>
          </a:p>
        </p:txBody>
      </p:sp>
      <p:sp>
        <p:nvSpPr>
          <p:cNvPr id="18" name="alg3"/>
          <p:cNvSpPr/>
          <p:nvPr/>
        </p:nvSpPr>
        <p:spPr>
          <a:xfrm>
            <a:off x="5349240" y="3840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803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Recurse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40873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Sort A[lo..p−1] and A[p+1..hi]. Initial call: QUICKSORT(A, 1, 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7 2 9 4 3 8 6</a:t>
            </a:r>
            <a:endParaRPr lang="en-US" sz="3200" dirty="0"/>
          </a:p>
        </p:txBody>
      </p:sp>
      <p:graphicFrame>
        <p:nvGraphicFramePr>
          <p:cNvPr id="5" name="trac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94360"/>
                <a:gridCol w="2423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7 2 9 4 3 8 6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 4 3] 6 [7 9 8]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2 4 3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[2] 3 [4]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7 9 8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[7] 8 [9]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2 3 4 6 7 8 9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74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Note: the slide and video keep each side in its original order for clarity. In-place Lomuto PARTITION actually produces 2 4 3 | 6 | 9 8 7 — the pivot still lands at the same index and the final result is the same.</a:t>
            </a:r>
            <a:endParaRPr lang="en-US" sz="1200" dirty="0"/>
          </a:p>
        </p:txBody>
      </p:sp>
      <p:sp>
        <p:nvSpPr>
          <p:cNvPr id="6" name="resultCard"/>
          <p:cNvSpPr/>
          <p:nvPr/>
        </p:nvSpPr>
        <p:spPr>
          <a:xfrm>
            <a:off x="5349240" y="1371600"/>
            <a:ext cx="3337560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3212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Final sorted array</a:t>
            </a:r>
            <a:endParaRPr lang="en-US" sz="1200" dirty="0"/>
          </a:p>
        </p:txBody>
      </p:sp>
      <p:pic>
        <p:nvPicPr>
          <p:cNvPr id="8" name="sortedImg" descr="deck_sor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74520"/>
            <a:ext cx="3063240" cy="113048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32120" y="31089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pivot ends in its final position, so after the recursion finishes no merge step is needed.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COMPLEXITY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on average, quadratic at worst</a:t>
            </a:r>
            <a:endParaRPr lang="en-US" sz="3200" dirty="0"/>
          </a:p>
        </p:txBody>
      </p:sp>
      <p:graphicFrame>
        <p:nvGraphicFramePr>
          <p:cNvPr id="6" name="cx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5760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Case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Time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When it happens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Best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Pivot splits the array into equal halves: T(n) = 2T(n/2) + Θ(n)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Average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Random input or random pivot (≈ 1.39 n log₂ n comparisons)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Worst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O(n²)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Pivot always min or max (e.g. sorted input, last-element pivot): T(n) = T(n−1) + Θ(n)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5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C"/>
                    </a:solidFill>
                  </a:tcPr>
                </a:tc>
              </a:tr>
            </a:tbl>
          </a:graphicData>
        </a:graphic>
      </p:graphicFrame>
      <p:sp>
        <p:nvSpPr>
          <p:cNvPr id="5" name="stat0"/>
          <p:cNvSpPr/>
          <p:nvPr/>
        </p:nvSpPr>
        <p:spPr>
          <a:xfrm>
            <a:off x="457200" y="3429000"/>
            <a:ext cx="2615184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502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O(log n)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9502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Extra space (average recursion stack); O(n) worst case unless you recurse on the smaller side first</a:t>
            </a:r>
            <a:endParaRPr lang="en-US" sz="1100" dirty="0"/>
          </a:p>
        </p:txBody>
      </p:sp>
      <p:sp>
        <p:nvSpPr>
          <p:cNvPr id="8" name="stat1"/>
          <p:cNvSpPr/>
          <p:nvPr/>
        </p:nvSpPr>
        <p:spPr>
          <a:xfrm>
            <a:off x="3264408" y="3429000"/>
            <a:ext cx="2615184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47288" y="3502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In-place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447288" y="39502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Only swaps inside the array; no auxiliary array</a:t>
            </a:r>
            <a:endParaRPr lang="en-US" sz="1100" dirty="0"/>
          </a:p>
        </p:txBody>
      </p:sp>
      <p:sp>
        <p:nvSpPr>
          <p:cNvPr id="11" name="stat2"/>
          <p:cNvSpPr/>
          <p:nvPr/>
        </p:nvSpPr>
        <p:spPr>
          <a:xfrm>
            <a:off x="6071616" y="3429000"/>
            <a:ext cx="2615184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54496" y="3502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stable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254496" y="39502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Long-range swaps can reorder equal keys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 PRACTICE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Pros, cons and when to use it</a:t>
            </a:r>
            <a:endParaRPr lang="en-US" sz="3200" dirty="0"/>
          </a:p>
        </p:txBody>
      </p:sp>
      <p:sp>
        <p:nvSpPr>
          <p:cNvPr id="4" name="pros"/>
          <p:cNvSpPr/>
          <p:nvPr/>
        </p:nvSpPr>
        <p:spPr>
          <a:xfrm>
            <a:off x="457200" y="1371600"/>
            <a:ext cx="2615184" cy="274320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Fast in practice: small constants, cache-friendly sequential scans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In-place: O(log n) extra stack on average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Simple to implement</a:t>
            </a:r>
            <a:endParaRPr lang="en-US" sz="1300" dirty="0"/>
          </a:p>
        </p:txBody>
      </p:sp>
      <p:sp>
        <p:nvSpPr>
          <p:cNvPr id="7" name="cons"/>
          <p:cNvSpPr/>
          <p:nvPr/>
        </p:nvSpPr>
        <p:spPr>
          <a:xfrm>
            <a:off x="3264408" y="1371600"/>
            <a:ext cx="2615184" cy="274320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87452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O(n²) worst case on bad pivots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Not stable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Recursive; deep stack in the worst case</a:t>
            </a:r>
            <a:endParaRPr lang="en-US" sz="1300" dirty="0"/>
          </a:p>
        </p:txBody>
      </p:sp>
      <p:sp>
        <p:nvSpPr>
          <p:cNvPr id="10" name="fixes"/>
          <p:cNvSpPr/>
          <p:nvPr/>
        </p:nvSpPr>
        <p:spPr>
          <a:xfrm>
            <a:off x="6071616" y="1371600"/>
            <a:ext cx="2615184" cy="274320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Avoid the worst case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187452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Randomized pivot: expected O(n log n) on any input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Median-of-three (first, middle, last) as pivot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Switch to insertion sort for tiny subarrays; introsort falls back to heapsort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Quick Sort · Design and Analysis of Algorithms</a:t>
            </a:r>
            <a:endParaRPr lang="en-US" sz="1800" dirty="0"/>
          </a:p>
        </p:txBody>
      </p:sp>
      <p:sp>
        <p:nvSpPr>
          <p:cNvPr id="4" name="genPill2"/>
          <p:cNvSpPr/>
          <p:nvPr/>
        </p:nvSpPr>
        <p:spPr>
          <a:xfrm>
            <a:off x="3108960" y="310896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0C241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08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Generated using </a:t>
            </a:r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Claude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ck Sort Indigo">
  <a:themeElements>
    <a:clrScheme name="Quick Sort Indigo">
      <a:dk1>
        <a:srgbClr val="0C241C"/>
      </a:dk1>
      <a:lt1>
        <a:srgbClr val="F4EFE4"/>
      </a:lt1>
      <a:dk2>
        <a:srgbClr val="14382C"/>
      </a:dk2>
      <a:lt2>
        <a:srgbClr val="A8C4B6"/>
      </a:lt2>
      <a:accent1>
        <a:srgbClr val="C6EA5A"/>
      </a:accent1>
      <a:accent2>
        <a:srgbClr val="5BC0EB"/>
      </a:accent2>
      <a:accent3>
        <a:srgbClr val="F2785C"/>
      </a:accent3>
      <a:accent4>
        <a:srgbClr val="2D5A48"/>
      </a:accent4>
      <a:accent5>
        <a:srgbClr val="FFC857"/>
      </a:accent5>
      <a:accent6>
        <a:srgbClr val="CFE0D6"/>
      </a:accent6>
      <a:hlink>
        <a:srgbClr val="C6EA5A"/>
      </a:hlink>
      <a:folHlink>
        <a:srgbClr val="A8C4B6"/>
      </a:folHlink>
    </a:clrScheme>
    <a:fontScheme name="Quick Sort Indigo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Sort</dc:title>
  <dc:subject>PptxGenJS Presentation</dc:subject>
  <dc:creator>Generated using Claude</dc:creator>
  <cp:lastModifiedBy>Generated using Claude</cp:lastModifiedBy>
  <cp:revision>1</cp:revision>
  <dcterms:created xsi:type="dcterms:W3CDTF">2026-10-18T18:28:01Z</dcterms:created>
  <dcterms:modified xsi:type="dcterms:W3CDTF">2026-10-18T18:28:01Z</dcterms:modified>
</cp:coreProperties>
</file>